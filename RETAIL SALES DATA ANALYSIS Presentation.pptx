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6" autoAdjust="0"/>
    <p:restoredTop sz="94660"/>
  </p:normalViewPr>
  <p:slideViewPr>
    <p:cSldViewPr snapToGrid="0">
      <p:cViewPr>
        <p:scale>
          <a:sx n="66" d="100"/>
          <a:sy n="66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D8C4-42B8-3CF4-0BDF-668848FA1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C4BCD-0E6B-84BC-DFBA-CCE9D5092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FA20B-8A30-88AE-6B9C-3F92DDFF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4A40-E5FC-8EED-C718-A041A2FB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D8DE0-CDDA-14E0-FD94-F1E7216E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3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3880-4B7A-C9BC-332E-6C922457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F4110-D13C-F376-891E-7173510B1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C5F71-1F2D-2423-8D01-EF5FBA3F7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63E34-7DBB-4383-43D5-9A005475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3513-103A-D2F3-7296-BFE92F62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5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9E473-017F-5FDB-3FF8-5DCDA6901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DF80B-48F2-7E83-819A-AD7D515B6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998A9-A7AB-10EB-EAA9-25A00222E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7C13F-57FA-CF19-F876-0155537CD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91228-1570-A04C-84BD-143F329A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2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F3453-D7DB-5F48-FF5A-9F94F450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E7AE-4E78-9F37-9A0B-DB381D44E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BCB50-AA24-F479-B02C-10FE6DBDC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6E77B-8218-ADBD-14DE-7774C533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3803-6A23-397A-2340-1FED7F00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FCDF00-2C19-77DB-AE75-73804D43F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1A4B-DB15-E161-E4D4-321723986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ECF8F-502B-22FA-E8A0-6508E909B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ADA3E-0A5A-157B-BD0F-C82CABCC3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7C138B-C562-DC70-C0CE-A68BD56356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84A87-2751-9457-6F34-98271E49A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85BC7-6C9F-D70D-0DC9-A00F9F0C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9F351-9798-A21F-AED5-E0A9DB8B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B8324-873F-3446-9B39-E140AD72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16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B2A0-EF84-7B18-7D78-41532859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5D3E6-7E0E-A6BA-9A46-581A8DBB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74D74-E746-A451-20B5-092C80A2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86FD3-C88F-3271-2FCC-4E85106DF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2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0E756-6ECA-F57C-C916-4B5C0C9B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FAAA8-6669-6022-27D2-37AF0C139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1B346-B080-A6A3-5579-B483E8DA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9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F094-BAFF-B25E-F79C-F9F42EFF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AFEB-5A76-71E6-A04C-C78D8E857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F3210-804A-7806-D43F-30D2BF96D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B2239D-A8FB-234E-12B2-32C90D5B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6C7C1-8DD3-5B1B-872B-CC9E135C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EF233-A693-3097-25BE-716321C6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9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0734-85ED-7330-C911-7938DF52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4608B-0215-EDA0-157B-9623007E6D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A7AA6-4164-529A-D15F-3E9E0DB2C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31F34-02B8-40BB-A7F6-762A47B48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3420C-3B11-85E6-A19E-A6B26841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EF182-EF08-D351-44B4-76A67C8D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31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A221-E03A-C335-BEFB-B3AE75DDF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0FA22-BC96-11D4-F023-6E855CB0D3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D931A-B7B9-AD8C-E3F9-B2165B6D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A7E16-043C-14D6-E47A-C262E1EAD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ADE2-A33C-8A8E-20D1-244DDC5A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3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8B31DA-0C34-D82F-24AC-4A921CF91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950A0-605E-5786-AD80-480F96029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559BA-760A-F178-D570-ECA27209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36273-E9B1-11FF-571F-4DA5B9447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767B0-8084-B373-D880-8ECC69E0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64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151AFC-259E-F84B-317A-F5B03824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4621E-72FE-B906-E5F6-10F24000F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8794D-55E5-D4AE-CE18-E619A9D73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40FFA-3226-433B-85F3-59AFF2B214C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CA74C-E495-5615-DA2E-71F7F4912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BF881-AAD2-17B4-B8EA-5095BB29A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423EC-6A45-4AF0-9935-78FC8A9A9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86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2E0F-1A4B-2118-86F4-5687E5497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528638"/>
            <a:ext cx="10058400" cy="3128962"/>
          </a:xfrm>
        </p:spPr>
        <p:txBody>
          <a:bodyPr>
            <a:normAutofit fontScale="90000"/>
          </a:bodyPr>
          <a:lstStyle/>
          <a:p>
            <a:r>
              <a:rPr lang="en-US" sz="7300" b="1" dirty="0"/>
              <a:t>RETAIL SALES DATA ANALYSIS</a:t>
            </a:r>
            <a:br>
              <a:rPr lang="en-US" sz="5300" b="1" dirty="0"/>
            </a:br>
            <a:r>
              <a:rPr lang="en-US" sz="6700" dirty="0"/>
              <a:t>Exploratory Data Analysis (EDA)</a:t>
            </a:r>
            <a:br>
              <a:rPr lang="en-US" sz="540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CDF2B-9C3B-0836-9BE5-FBCC32BAD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4214813"/>
            <a:ext cx="10058400" cy="1943099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Company: NEXTHIKES IT SOLUTION</a:t>
            </a:r>
          </a:p>
          <a:p>
            <a:pPr algn="l"/>
            <a:r>
              <a:rPr lang="en-US" sz="3200" dirty="0"/>
              <a:t>Presented by: Vikas Singh</a:t>
            </a:r>
          </a:p>
        </p:txBody>
      </p:sp>
    </p:spTree>
    <p:extLst>
      <p:ext uri="{BB962C8B-B14F-4D97-AF65-F5344CB8AC3E}">
        <p14:creationId xmlns:p14="http://schemas.microsoft.com/office/powerpoint/2010/main" val="2857973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C22C-7A26-870D-78DA-55AB0308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863"/>
            <a:ext cx="10515600" cy="1006475"/>
          </a:xfrm>
        </p:spPr>
        <p:txBody>
          <a:bodyPr/>
          <a:lstStyle/>
          <a:p>
            <a:r>
              <a:rPr lang="en-US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3B1E18-DADB-CE72-BAB4-80E313B8B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8935"/>
            <a:ext cx="1027747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retail sales data using Python.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Understand customer and product patterns.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relationships between numerical </a:t>
            </a:r>
            <a:r>
              <a:rPr lang="en-US" altLang="en-US" dirty="0">
                <a:latin typeface="Arial" panose="020B0604020202020204" pitchFamily="34" charset="0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nd categorical variables.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 outliers and unusual values.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meaningful business insights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32A00-4D0C-D949-9869-03425A5684BA}"/>
              </a:ext>
            </a:extLst>
          </p:cNvPr>
          <p:cNvSpPr txBox="1"/>
          <p:nvPr/>
        </p:nvSpPr>
        <p:spPr>
          <a:xfrm>
            <a:off x="1200151" y="5242064"/>
            <a:ext cx="92011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Raw Data → Cleaning → Analysis → Visualization → Insights</a:t>
            </a:r>
            <a:endParaRPr lang="en-US" sz="2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50875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9B26-99C4-1A14-575F-84265AA4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5125"/>
            <a:ext cx="10668000" cy="1325563"/>
          </a:xfrm>
        </p:spPr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32ECD-0BF2-D049-3750-E21F6086B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88"/>
            <a:ext cx="10515600" cy="510063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KEY VARIABLES:</a:t>
            </a:r>
          </a:p>
          <a:p>
            <a:pPr marL="0" indent="0">
              <a:buNone/>
            </a:pPr>
            <a:r>
              <a:rPr lang="en-US" dirty="0"/>
              <a:t>Customer: Age, Gender, Customer Segment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Sales: Product Category, Product Price, Quantity,</a:t>
            </a:r>
          </a:p>
          <a:p>
            <a:pPr marL="0" indent="0">
              <a:buNone/>
            </a:pPr>
            <a:r>
              <a:rPr lang="en-US" dirty="0"/>
              <a:t>Discount, Final Price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Operations: Payment Method, Shipping Type,</a:t>
            </a:r>
          </a:p>
          <a:p>
            <a:pPr marL="0" indent="0">
              <a:buNone/>
            </a:pPr>
            <a:r>
              <a:rPr lang="en-US" dirty="0"/>
              <a:t>Delivery Days, Return Status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ECA4A-D0E5-8FB2-52DD-8A65BECB29B5}"/>
              </a:ext>
            </a:extLst>
          </p:cNvPr>
          <p:cNvSpPr/>
          <p:nvPr/>
        </p:nvSpPr>
        <p:spPr>
          <a:xfrm>
            <a:off x="1053705" y="1690688"/>
            <a:ext cx="1042987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100,000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01FA5F-0B65-F1C8-86AF-8F312E1405FD}"/>
              </a:ext>
            </a:extLst>
          </p:cNvPr>
          <p:cNvSpPr/>
          <p:nvPr/>
        </p:nvSpPr>
        <p:spPr>
          <a:xfrm>
            <a:off x="2312196" y="1692276"/>
            <a:ext cx="114776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  <a:p>
            <a:pPr algn="ctr"/>
            <a:r>
              <a:rPr lang="en-US" dirty="0"/>
              <a:t>COLUMNS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84305-14E8-8ACD-7A2B-4578A8BDA49E}"/>
              </a:ext>
            </a:extLst>
          </p:cNvPr>
          <p:cNvSpPr/>
          <p:nvPr/>
        </p:nvSpPr>
        <p:spPr>
          <a:xfrm>
            <a:off x="3686180" y="1690688"/>
            <a:ext cx="102393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  <a:p>
            <a:pPr algn="ctr"/>
            <a:r>
              <a:rPr lang="en-US" dirty="0"/>
              <a:t>MISSING VALUES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58905C-C49F-78BA-CF45-A87839CD6F1A}"/>
              </a:ext>
            </a:extLst>
          </p:cNvPr>
          <p:cNvSpPr/>
          <p:nvPr/>
        </p:nvSpPr>
        <p:spPr>
          <a:xfrm>
            <a:off x="4862513" y="1690688"/>
            <a:ext cx="134779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</a:p>
          <a:p>
            <a:pPr algn="ctr"/>
            <a:r>
              <a:rPr lang="en-US" dirty="0"/>
              <a:t>DUPLICATES</a:t>
            </a:r>
          </a:p>
        </p:txBody>
      </p:sp>
    </p:spTree>
    <p:extLst>
      <p:ext uri="{BB962C8B-B14F-4D97-AF65-F5344CB8AC3E}">
        <p14:creationId xmlns:p14="http://schemas.microsoft.com/office/powerpoint/2010/main" val="237842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7EC-538C-BEED-0FCC-C21E18B0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3A9C3-D136-02D3-E1C7-FD20A96C0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825625"/>
            <a:ext cx="10339387" cy="3017838"/>
          </a:xfrm>
        </p:spPr>
        <p:txBody>
          <a:bodyPr>
            <a:normAutofit/>
          </a:bodyPr>
          <a:lstStyle/>
          <a:p>
            <a:r>
              <a:rPr lang="en-US" sz="3200" dirty="0"/>
              <a:t>✓ Checked missing values</a:t>
            </a:r>
          </a:p>
          <a:p>
            <a:r>
              <a:rPr lang="en-US" sz="3200" dirty="0"/>
              <a:t>✓ Checked duplicate records</a:t>
            </a:r>
          </a:p>
          <a:p>
            <a:r>
              <a:rPr lang="en-US" sz="3200" dirty="0"/>
              <a:t>✓ Converted Order Date into Date Time format</a:t>
            </a:r>
          </a:p>
          <a:p>
            <a:r>
              <a:rPr lang="en-US" sz="3200" dirty="0"/>
              <a:t>✓ Checked and prepared numerical &amp; categorical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0A400-876E-9ECA-F2DA-46435BB44914}"/>
              </a:ext>
            </a:extLst>
          </p:cNvPr>
          <p:cNvSpPr txBox="1"/>
          <p:nvPr/>
        </p:nvSpPr>
        <p:spPr>
          <a:xfrm>
            <a:off x="1014412" y="5143500"/>
            <a:ext cx="10339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RAW DATA</a:t>
            </a:r>
            <a:r>
              <a:rPr lang="en-US" sz="2400" dirty="0"/>
              <a:t> → </a:t>
            </a:r>
            <a:r>
              <a:rPr lang="en-US" sz="2400" b="1" dirty="0"/>
              <a:t>Missing Values Check</a:t>
            </a:r>
            <a:r>
              <a:rPr lang="en-US" sz="2400" dirty="0"/>
              <a:t> → </a:t>
            </a:r>
            <a:r>
              <a:rPr lang="en-US" sz="2400" b="1" dirty="0"/>
              <a:t>Duplicate Check</a:t>
            </a:r>
            <a:r>
              <a:rPr lang="en-US" sz="2400" dirty="0"/>
              <a:t> → </a:t>
            </a:r>
            <a:r>
              <a:rPr lang="en-US" sz="2400" b="1" dirty="0"/>
              <a:t>Data Type Check</a:t>
            </a:r>
            <a:r>
              <a:rPr lang="en-US" sz="2400" dirty="0"/>
              <a:t> → </a:t>
            </a:r>
            <a:r>
              <a:rPr lang="en-US" sz="2400" b="1" dirty="0"/>
              <a:t>READY FOR ANALYSIS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7357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C72C8-47E9-D625-7212-D59CEBEE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36525"/>
            <a:ext cx="10515600" cy="1063625"/>
          </a:xfrm>
        </p:spPr>
        <p:txBody>
          <a:bodyPr/>
          <a:lstStyle/>
          <a:p>
            <a:r>
              <a:rPr lang="en-US" b="1" dirty="0"/>
              <a:t>NUMERICAL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03215-9EB4-6C5F-B75B-25F10DDA0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25563"/>
            <a:ext cx="5181600" cy="3832225"/>
          </a:xfrm>
        </p:spPr>
        <p:txBody>
          <a:bodyPr/>
          <a:lstStyle/>
          <a:p>
            <a:pPr marL="0" indent="0" fontAlgn="ctr">
              <a:buNone/>
            </a:pPr>
            <a:r>
              <a:rPr lang="en-US" b="1" dirty="0"/>
              <a:t>Variable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Age</a:t>
            </a:r>
          </a:p>
          <a:p>
            <a:pPr marL="0" indent="0" fontAlgn="ctr">
              <a:buNone/>
            </a:pPr>
            <a:r>
              <a:rPr lang="en-US" dirty="0"/>
              <a:t>Product Price</a:t>
            </a:r>
          </a:p>
          <a:p>
            <a:pPr marL="0" indent="0" fontAlgn="ctr">
              <a:buNone/>
            </a:pPr>
            <a:r>
              <a:rPr lang="en-US" dirty="0"/>
              <a:t>Quantity</a:t>
            </a:r>
          </a:p>
          <a:p>
            <a:pPr marL="0" indent="0" fontAlgn="ctr">
              <a:buNone/>
            </a:pPr>
            <a:r>
              <a:rPr lang="en-US" dirty="0"/>
              <a:t>Discount</a:t>
            </a:r>
          </a:p>
          <a:p>
            <a:pPr marL="0" indent="0" fontAlgn="ctr">
              <a:buNone/>
            </a:pPr>
            <a:r>
              <a:rPr lang="en-US" dirty="0"/>
              <a:t>Final Price</a:t>
            </a:r>
          </a:p>
          <a:p>
            <a:pPr marL="0" indent="0" fontAlgn="ctr">
              <a:buNone/>
            </a:pPr>
            <a:r>
              <a:rPr lang="en-US" dirty="0"/>
              <a:t>Delivery Days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B1461-1C9B-3763-48E8-FAFEE13C0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25563"/>
            <a:ext cx="5181600" cy="3832225"/>
          </a:xfrm>
        </p:spPr>
        <p:txBody>
          <a:bodyPr/>
          <a:lstStyle/>
          <a:p>
            <a:pPr marL="0" indent="0" fontAlgn="ctr">
              <a:buNone/>
            </a:pPr>
            <a:r>
              <a:rPr lang="en-US" b="1" dirty="0"/>
              <a:t>Mean</a:t>
            </a:r>
            <a:endParaRPr lang="en-US" dirty="0"/>
          </a:p>
          <a:p>
            <a:pPr marL="0" indent="0" fontAlgn="ctr">
              <a:buNone/>
            </a:pPr>
            <a:r>
              <a:rPr lang="en-US" dirty="0"/>
              <a:t>41.56</a:t>
            </a:r>
          </a:p>
          <a:p>
            <a:pPr marL="0" indent="0" fontAlgn="ctr">
              <a:buNone/>
            </a:pPr>
            <a:r>
              <a:rPr lang="en-US" dirty="0"/>
              <a:t>30,164.53</a:t>
            </a:r>
          </a:p>
          <a:p>
            <a:pPr marL="0" indent="0" fontAlgn="ctr">
              <a:buNone/>
            </a:pPr>
            <a:r>
              <a:rPr lang="en-US" dirty="0"/>
              <a:t>2.50</a:t>
            </a:r>
          </a:p>
          <a:p>
            <a:pPr marL="0" indent="0" fontAlgn="ctr">
              <a:buNone/>
            </a:pPr>
            <a:r>
              <a:rPr lang="en-US" dirty="0"/>
              <a:t>15.01%</a:t>
            </a:r>
          </a:p>
          <a:p>
            <a:pPr marL="0" indent="0" fontAlgn="ctr">
              <a:buNone/>
            </a:pPr>
            <a:r>
              <a:rPr lang="en-US" dirty="0"/>
              <a:t>64,165.72</a:t>
            </a:r>
          </a:p>
          <a:p>
            <a:pPr marL="0" indent="0" fontAlgn="ctr">
              <a:buNone/>
            </a:pPr>
            <a:r>
              <a:rPr lang="en-US" dirty="0"/>
              <a:t>5.51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C8589-8986-97F0-A47D-97B22BAC9C03}"/>
              </a:ext>
            </a:extLst>
          </p:cNvPr>
          <p:cNvSpPr txBox="1"/>
          <p:nvPr/>
        </p:nvSpPr>
        <p:spPr>
          <a:xfrm>
            <a:off x="942975" y="4990813"/>
            <a:ext cx="21859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Key Insight: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46095-A844-3719-7382-A8E1BFF73F4F}"/>
              </a:ext>
            </a:extLst>
          </p:cNvPr>
          <p:cNvSpPr txBox="1"/>
          <p:nvPr/>
        </p:nvSpPr>
        <p:spPr>
          <a:xfrm>
            <a:off x="1614489" y="5575588"/>
            <a:ext cx="97393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Final Price has the highest average monetary value, while average order quantity is approximately </a:t>
            </a:r>
            <a:r>
              <a:rPr lang="en-US" sz="2800" b="1" dirty="0"/>
              <a:t>2.5 items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4270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AB51-4BA3-EBE8-C08B-3308642B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574676"/>
            <a:ext cx="3935413" cy="1328736"/>
          </a:xfrm>
        </p:spPr>
        <p:txBody>
          <a:bodyPr>
            <a:normAutofit/>
          </a:bodyPr>
          <a:lstStyle/>
          <a:p>
            <a:r>
              <a:rPr lang="en-US" sz="4400" b="1" dirty="0"/>
              <a:t>CATEGORICAL DATA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44FBD-BE97-AB17-75DE-62CCE3880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Gender</a:t>
            </a:r>
          </a:p>
          <a:p>
            <a:r>
              <a:rPr lang="en-US" sz="3200" dirty="0"/>
              <a:t>Customer Segment</a:t>
            </a:r>
          </a:p>
          <a:p>
            <a:r>
              <a:rPr lang="en-US" sz="3200" dirty="0"/>
              <a:t>Product Category</a:t>
            </a:r>
          </a:p>
          <a:p>
            <a:r>
              <a:rPr lang="en-US" sz="3200" dirty="0"/>
              <a:t>Payment Method</a:t>
            </a:r>
          </a:p>
          <a:p>
            <a:r>
              <a:rPr lang="en-US" sz="3200" dirty="0"/>
              <a:t>Shipping Type</a:t>
            </a:r>
          </a:p>
          <a:p>
            <a:r>
              <a:rPr lang="en-US" sz="3200" dirty="0"/>
              <a:t>Return Status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CDBFB11-5E0D-CDEB-FD79-8042A3B9B4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-2827" b="-2802"/>
          <a:stretch>
            <a:fillRect/>
          </a:stretch>
        </p:blipFill>
        <p:spPr>
          <a:xfrm>
            <a:off x="4471988" y="748348"/>
            <a:ext cx="7183437" cy="5120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31960B-E5EA-075B-4F41-F2755B06796E}"/>
              </a:ext>
            </a:extLst>
          </p:cNvPr>
          <p:cNvSpPr txBox="1"/>
          <p:nvPr/>
        </p:nvSpPr>
        <p:spPr>
          <a:xfrm>
            <a:off x="938213" y="5851052"/>
            <a:ext cx="109437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Key Insight:  </a:t>
            </a:r>
            <a:r>
              <a:rPr lang="en-US" sz="2400" dirty="0"/>
              <a:t>Categorical variables were analyzed using frequency distributions to understand customer, product, payment, shipping and return patterns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8320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EE9D-E559-E45B-1D97-E9168F39F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42" y="0"/>
            <a:ext cx="10515600" cy="1325563"/>
          </a:xfrm>
        </p:spPr>
        <p:txBody>
          <a:bodyPr/>
          <a:lstStyle/>
          <a:p>
            <a:r>
              <a:rPr lang="en-US" b="1" dirty="0"/>
              <a:t>PRODUCT CATEGORY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9EC9F5-2C34-5DAE-33B8-F36BFC2AE8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071" y="1325563"/>
            <a:ext cx="10637158" cy="4481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A6981D-2FA4-AE58-2EED-3539188A1C38}"/>
              </a:ext>
            </a:extLst>
          </p:cNvPr>
          <p:cNvSpPr txBox="1"/>
          <p:nvPr/>
        </p:nvSpPr>
        <p:spPr>
          <a:xfrm>
            <a:off x="1146629" y="6052457"/>
            <a:ext cx="1026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Final Price varies across different product categories, helping identify categories with relatively higher or lower sales value.</a:t>
            </a:r>
          </a:p>
        </p:txBody>
      </p:sp>
    </p:spTree>
    <p:extLst>
      <p:ext uri="{BB962C8B-B14F-4D97-AF65-F5344CB8AC3E}">
        <p14:creationId xmlns:p14="http://schemas.microsoft.com/office/powerpoint/2010/main" val="178200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E6962-7578-308C-83DF-DBF3049A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PRICING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789BCB-9F9B-7084-2BD3-D4D82B4BF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0633"/>
            <a:ext cx="9964382" cy="42966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F616F7-9FE0-8CC6-B5A7-31676521BA6B}"/>
              </a:ext>
            </a:extLst>
          </p:cNvPr>
          <p:cNvSpPr txBox="1"/>
          <p:nvPr/>
        </p:nvSpPr>
        <p:spPr>
          <a:xfrm>
            <a:off x="1139048" y="5907314"/>
            <a:ext cx="10109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Final Price generally changes with Product Price, showing the relationship between product pricing and final sales value.</a:t>
            </a:r>
          </a:p>
        </p:txBody>
      </p:sp>
    </p:spTree>
    <p:extLst>
      <p:ext uri="{BB962C8B-B14F-4D97-AF65-F5344CB8AC3E}">
        <p14:creationId xmlns:p14="http://schemas.microsoft.com/office/powerpoint/2010/main" val="3688967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6C93-5897-0EA4-79EC-F069685A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DISCOUNT &amp; QUANTITY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6A091E-AB13-5853-8AEE-DEAE477CD8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943" y="1579563"/>
            <a:ext cx="10203543" cy="43513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58407F-6AC6-01C0-EEF6-7601F8A70193}"/>
              </a:ext>
            </a:extLst>
          </p:cNvPr>
          <p:cNvSpPr txBox="1"/>
          <p:nvPr/>
        </p:nvSpPr>
        <p:spPr>
          <a:xfrm>
            <a:off x="1088571" y="6027003"/>
            <a:ext cx="10265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Discount percentage and final price show a relationship that helps understand the effect of discounts on sales value.</a:t>
            </a:r>
          </a:p>
        </p:txBody>
      </p:sp>
    </p:spTree>
    <p:extLst>
      <p:ext uri="{BB962C8B-B14F-4D97-AF65-F5344CB8AC3E}">
        <p14:creationId xmlns:p14="http://schemas.microsoft.com/office/powerpoint/2010/main" val="343955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3C21-72DE-0B6C-3524-44E7FC53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897"/>
            <a:ext cx="10515600" cy="1325563"/>
          </a:xfrm>
        </p:spPr>
        <p:txBody>
          <a:bodyPr/>
          <a:lstStyle/>
          <a:p>
            <a:r>
              <a:rPr lang="en-US" b="1" dirty="0"/>
              <a:t>CUSTOMER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7DE836-21F6-3597-7021-B58510050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486" y="1308327"/>
            <a:ext cx="10352314" cy="4241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59E2C1-5CD0-4799-32EE-F3B2BA851536}"/>
              </a:ext>
            </a:extLst>
          </p:cNvPr>
          <p:cNvSpPr txBox="1"/>
          <p:nvPr/>
        </p:nvSpPr>
        <p:spPr>
          <a:xfrm>
            <a:off x="1001487" y="5689600"/>
            <a:ext cx="103523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The analysis helps understand how customer age varies with the final price of orders.</a:t>
            </a:r>
          </a:p>
        </p:txBody>
      </p:sp>
    </p:spTree>
    <p:extLst>
      <p:ext uri="{BB962C8B-B14F-4D97-AF65-F5344CB8AC3E}">
        <p14:creationId xmlns:p14="http://schemas.microsoft.com/office/powerpoint/2010/main" val="4106348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AFF8-C697-6256-1ED8-0C6164B58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953"/>
            <a:ext cx="10515600" cy="1325563"/>
          </a:xfrm>
        </p:spPr>
        <p:txBody>
          <a:bodyPr/>
          <a:lstStyle/>
          <a:p>
            <a:r>
              <a:rPr lang="en-US" b="1" dirty="0"/>
              <a:t>SHIPPING &amp; PAYMENT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317FF7-4533-23B6-5D6B-1FC4AC070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14916"/>
            <a:ext cx="1035231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431DFC-B069-09AE-1E6C-7D24185603AB}"/>
              </a:ext>
            </a:extLst>
          </p:cNvPr>
          <p:cNvSpPr txBox="1"/>
          <p:nvPr/>
        </p:nvSpPr>
        <p:spPr>
          <a:xfrm>
            <a:off x="1030515" y="5979885"/>
            <a:ext cx="10740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Final Price varies across different payment methods, helping understand the sales value associated with each payment type.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6163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30C3-B85D-4EDF-0D00-6A07C956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75"/>
            <a:ext cx="10515600" cy="1325563"/>
          </a:xfrm>
        </p:spPr>
        <p:txBody>
          <a:bodyPr/>
          <a:lstStyle/>
          <a:p>
            <a:r>
              <a:rPr lang="en-US" b="1" dirty="0"/>
              <a:t>OUTLIER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325DA-63B1-FA8E-0024-E27E6E1C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143794"/>
            <a:ext cx="5157787" cy="823912"/>
          </a:xfrm>
        </p:spPr>
        <p:txBody>
          <a:bodyPr/>
          <a:lstStyle/>
          <a:p>
            <a:r>
              <a:rPr lang="en-US" sz="2800" dirty="0"/>
              <a:t>IQR</a:t>
            </a:r>
            <a:r>
              <a:rPr lang="en-US" dirty="0"/>
              <a:t> </a:t>
            </a:r>
            <a:r>
              <a:rPr lang="en-US" sz="2800" dirty="0"/>
              <a:t>Method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D189D-8338-36E6-891F-FC4DD0898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8812" y="1143794"/>
            <a:ext cx="5183188" cy="823912"/>
          </a:xfrm>
        </p:spPr>
        <p:txBody>
          <a:bodyPr>
            <a:normAutofit/>
          </a:bodyPr>
          <a:lstStyle/>
          <a:p>
            <a:r>
              <a:rPr lang="en-US" sz="2800" dirty="0"/>
              <a:t>Z-Score Method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3C7DD2-AB93-DE9A-1E4F-B54EE7AF9FE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98317" y="1776859"/>
            <a:ext cx="535679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identify unusual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Based on Q1, Q3 and IQR.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ADC11C5-F6BF-0BF6-0C2C-B60512F95936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749369" y="1776859"/>
            <a:ext cx="570207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values with unusually high/low Z-scores.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Threshold used: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|Z| &gt; 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3A5F62-EE97-1B20-6EBE-FF4167980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62" y="3213109"/>
            <a:ext cx="6165738" cy="25010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069824-204D-6A23-7071-0F56397AE698}"/>
              </a:ext>
            </a:extLst>
          </p:cNvPr>
          <p:cNvSpPr txBox="1"/>
          <p:nvPr/>
        </p:nvSpPr>
        <p:spPr>
          <a:xfrm>
            <a:off x="838200" y="5765461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Outlier analysis was performed using IQR and Z-score methods to identify unusually high or low values.</a:t>
            </a:r>
            <a:r>
              <a:rPr lang="hi-IN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626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37DC-0EF9-0EA1-4F82-6E9A27B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88912"/>
            <a:ext cx="3932237" cy="1600200"/>
          </a:xfrm>
        </p:spPr>
        <p:txBody>
          <a:bodyPr>
            <a:normAutofit/>
          </a:bodyPr>
          <a:lstStyle/>
          <a:p>
            <a:r>
              <a:rPr lang="en-US" sz="4800" b="1" dirty="0"/>
              <a:t>CORRELATION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98DDBD-4896-D11F-6BEF-F0564AB34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2007804"/>
            <a:ext cx="6172200" cy="28328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91627-63E8-F1C8-3FF9-C32F6F6E6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800" b="1" dirty="0"/>
              <a:t>Variables analyzed:</a:t>
            </a:r>
            <a:endParaRPr lang="en-US" sz="2800" dirty="0"/>
          </a:p>
          <a:p>
            <a:r>
              <a:rPr lang="en-US" sz="2800" dirty="0"/>
              <a:t>Age </a:t>
            </a:r>
          </a:p>
          <a:p>
            <a:r>
              <a:rPr lang="en-US" sz="2800" dirty="0"/>
              <a:t>Product Price </a:t>
            </a:r>
          </a:p>
          <a:p>
            <a:r>
              <a:rPr lang="en-US" sz="2800" dirty="0"/>
              <a:t>Quantity </a:t>
            </a:r>
          </a:p>
          <a:p>
            <a:r>
              <a:rPr lang="en-US" sz="2800" dirty="0"/>
              <a:t>Discount Percentage </a:t>
            </a:r>
          </a:p>
          <a:p>
            <a:r>
              <a:rPr lang="en-US" sz="2800" dirty="0"/>
              <a:t>Final Price </a:t>
            </a:r>
          </a:p>
          <a:p>
            <a:r>
              <a:rPr lang="en-US" sz="2800" dirty="0"/>
              <a:t>Delivery Days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8B690-0FCD-33C9-785D-F5D093357199}"/>
              </a:ext>
            </a:extLst>
          </p:cNvPr>
          <p:cNvSpPr txBox="1"/>
          <p:nvPr/>
        </p:nvSpPr>
        <p:spPr>
          <a:xfrm>
            <a:off x="957944" y="5868988"/>
            <a:ext cx="10247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correlation heatmap helps identify the strength and direction of relationships between numerical variables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3958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82EEE-573C-963B-904A-DC925F0E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SKEWNESS &amp; KURTOSIS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1B8473-DE83-7B46-0DD8-5B073C392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712539"/>
              </p:ext>
            </p:extLst>
          </p:nvPr>
        </p:nvGraphicFramePr>
        <p:xfrm>
          <a:off x="707571" y="1951877"/>
          <a:ext cx="10515600" cy="36271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8928581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053480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41043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Skewness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Kurtosis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116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-0.005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-1.201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295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Product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0.003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-1.195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133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-0.003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-1.365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862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Discount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-0.004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-1.202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969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Final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 b="1"/>
                        <a:t>0.935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0.169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88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Delivery Days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/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800" dirty="0"/>
                        <a:t>-1.222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4988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D367A4-120D-D89D-14B2-4953C34174D7}"/>
              </a:ext>
            </a:extLst>
          </p:cNvPr>
          <p:cNvSpPr txBox="1"/>
          <p:nvPr/>
        </p:nvSpPr>
        <p:spPr>
          <a:xfrm>
            <a:off x="707571" y="5840186"/>
            <a:ext cx="11078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Most variables are approximately symmetric. Final Price shows noticeable positive/right skewness, while the other variables have skewness values close to zero.</a:t>
            </a:r>
          </a:p>
        </p:txBody>
      </p:sp>
    </p:spTree>
    <p:extLst>
      <p:ext uri="{BB962C8B-B14F-4D97-AF65-F5344CB8AC3E}">
        <p14:creationId xmlns:p14="http://schemas.microsoft.com/office/powerpoint/2010/main" val="346528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7732-59B2-AB4B-E002-C39C3F4E6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365125"/>
            <a:ext cx="10874829" cy="1325563"/>
          </a:xfrm>
        </p:spPr>
        <p:txBody>
          <a:bodyPr/>
          <a:lstStyle/>
          <a:p>
            <a:r>
              <a:rPr lang="en-US" b="1" dirty="0"/>
              <a:t>KEY FINDINGS &amp;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6B543E-BDA4-A828-BD82-1D95A32923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8629" y="1690688"/>
            <a:ext cx="12576677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Final Price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Price had an average value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64,165.72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showed noticeable positive skewness.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Product Price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Product Price was approximately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30,164.53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Quantity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order quantity was approximately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2.5 items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Customer Age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customer age was approximately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41.56 years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Data Quality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100,000 records and 18 columns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missing values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EBDE7C-E69B-0BC5-06AA-2470566C4C8A}"/>
              </a:ext>
            </a:extLst>
          </p:cNvPr>
          <p:cNvSpPr txBox="1"/>
          <p:nvPr/>
        </p:nvSpPr>
        <p:spPr>
          <a:xfrm>
            <a:off x="718457" y="5432297"/>
            <a:ext cx="10755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analysis helped understand customer behavior, product pricing, sales patterns, and unusual values through EDA.</a:t>
            </a:r>
          </a:p>
        </p:txBody>
      </p:sp>
    </p:spTree>
    <p:extLst>
      <p:ext uri="{BB962C8B-B14F-4D97-AF65-F5344CB8AC3E}">
        <p14:creationId xmlns:p14="http://schemas.microsoft.com/office/powerpoint/2010/main" val="2685031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ACA62-1038-85ED-1C67-1048BBFE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C04547-5804-D02A-0F7A-059B9AD6BE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2373" y="1259175"/>
            <a:ext cx="10642599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retail dataset was successfully analyzed using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(EDA)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Numerical and categorical variables were analyzed using different visualizations.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Outliers, correlation, skewness and kurtosis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were examined.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provided useful insights into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customers, products, pricing and sales patterns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0DFA7-AD45-6134-2C04-523590B0E6AE}"/>
              </a:ext>
            </a:extLst>
          </p:cNvPr>
          <p:cNvSpPr txBox="1"/>
          <p:nvPr/>
        </p:nvSpPr>
        <p:spPr>
          <a:xfrm>
            <a:off x="1055915" y="5776685"/>
            <a:ext cx="109038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EDA helped transform raw retail data into meaningful and understandable insights.</a:t>
            </a:r>
          </a:p>
        </p:txBody>
      </p:sp>
    </p:spTree>
    <p:extLst>
      <p:ext uri="{BB962C8B-B14F-4D97-AF65-F5344CB8AC3E}">
        <p14:creationId xmlns:p14="http://schemas.microsoft.com/office/powerpoint/2010/main" val="1767110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EDD37-DE82-01BF-8591-961A48EA4696}"/>
              </a:ext>
            </a:extLst>
          </p:cNvPr>
          <p:cNvSpPr txBox="1"/>
          <p:nvPr/>
        </p:nvSpPr>
        <p:spPr>
          <a:xfrm>
            <a:off x="682171" y="1843313"/>
            <a:ext cx="1079862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635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664</Words>
  <Application>Microsoft Office PowerPoint</Application>
  <PresentationFormat>Widescreen</PresentationFormat>
  <Paragraphs>129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RETAIL SALES DATA ANALYSIS Exploratory Data Analysis (EDA) </vt:lpstr>
      <vt:lpstr>PROJECT OVERVIEW</vt:lpstr>
      <vt:lpstr>DATASET OVERVIEW</vt:lpstr>
      <vt:lpstr>DATA CLEANING &amp; PREPARATION</vt:lpstr>
      <vt:lpstr>NUMERICAL DATA ANALYSIS</vt:lpstr>
      <vt:lpstr>CATEGORICAL DATA ANALYSIS</vt:lpstr>
      <vt:lpstr>PRODUCT CATEGORY ANALYSIS</vt:lpstr>
      <vt:lpstr>PRICING ANALYSIS</vt:lpstr>
      <vt:lpstr>DISCOUNT &amp; QUANTITY ANALYSIS</vt:lpstr>
      <vt:lpstr>CUSTOMER ANALYSIS</vt:lpstr>
      <vt:lpstr>SHIPPING &amp; PAYMENT ANALYSIS</vt:lpstr>
      <vt:lpstr>OUTLIER DETECTION</vt:lpstr>
      <vt:lpstr>CORRELATION ANALYSIS</vt:lpstr>
      <vt:lpstr>SKEWNESS &amp; KURTOSIS ANALYSIS</vt:lpstr>
      <vt:lpstr>KEY FINDINGS &amp; 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vikasthakur144117@gmail.com</dc:creator>
  <cp:lastModifiedBy>vikasthakur144117@gmail.com</cp:lastModifiedBy>
  <cp:revision>14</cp:revision>
  <dcterms:created xsi:type="dcterms:W3CDTF">2026-09-22T13:30:52Z</dcterms:created>
  <dcterms:modified xsi:type="dcterms:W3CDTF">2026-09-22T21:15:02Z</dcterms:modified>
</cp:coreProperties>
</file>